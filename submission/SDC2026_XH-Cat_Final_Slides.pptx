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tch" id="{177be04c-8fe2-9a1d-e827-09eebede861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Backup: demo screenshots" id="{5986362f-8ab5-803b-5703-b401aed04441}">
          <p14:sldIdLst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Exact course page</c:v>
                </c:pt>
              </c:strCache>
            </c:strRef>
          </c:tx>
          <c:spPr>
            <a:solidFill>
              <a:srgbClr val="B9B0A2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7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B0A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31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E7D3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Phase 1 baseline</c:v>
                  </c:pt>
                  <c:pt idx="1">
                    <c:v>Phase 1 target</c:v>
                  </c:pt>
                  <c:pt idx="2">
                    <c:v>Final build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</c:v>
                </c:pt>
                <c:pt idx="1">
                  <c:v>90</c:v>
                </c:pt>
                <c:pt idx="2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A171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57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A. Hello judges, we are team XH-Cat. FutureReady MY helps Malaysian students and young workers answer one question: I have these skills; which future roles fit me, and what should I learn first? Everything you will see is live at futures.grong.my, with a made-up user.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A. The problem: youth unemployment is 10.2 percent; more than half of professionals use AI but only a quarter are trained; 600,000 workers need reskilling. The official data exists but is scattered. Our first users are diploma and foundation students; next are career centres and HR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A. One profile, confirmed by the user, feeds four tools. The rule we kept everywhere: AI helps read and find, official data and plain arithmetic decide, and the user confirms. No language model ever produces a match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A. This is the judges' six-stage journey, and where each stage lives in our app. Presenter B will now run all six with one made-up user, Aina, a diploma holder in IT working in IT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B drives the demo (about 5 minutes); see submission/live-demo/demo-script.md. If the site does not open on campus Wi-Fi, use the phone hotspot or the local copy, or jump to the backup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A or B. The six must-haves, as they appear live. We say plainly what is not there yet: the pathway has no time per course because the course sites give no sourced duration, and the separate SDG path-contribution panel is not in this build; every role is still tagged.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B. The judges' questions: where does this come from, is it real, why this score. Roles only from eMASCO; matching is arithmetic; AI must quote its evidence; courses are real pages with checked dates; uncertainty is labelled; and every dataset carries its date and is rebuilt by scripts, with AI news every 3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B. One Node and Express app behind a Cloudflare Tunnel. Logic shared by browser and server. Official datasets with hashes. DeepSeek in three guarded places only. Quality: 1,765 Vitest tests and 49 Python tests, test-first, with a build record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A. Against our Phase 1 baseline: exact course pages went from 82 percent to 100 percent, above the 90 percent target. Cost is a few dollars a month. Privacy: the matching profile is never stored or logged. We have not run the student pilot yet, so we claim no pilot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A. The biggest change: we dropped embedding similarity for arithmetic on official levels, so every number can be explained. The full change log is in our updated PRD.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A closes. Both teammates take questions. See submission/live-demo/qa-prep.md.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for stage 1: upload, review, confirm.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for stage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for stage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for stage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for stages 5 and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74D"/>
                </a:solidFill>
              </a:rPr>
              <a:t>FutureReady MY · Team XH-Cat · futures.grong.my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7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7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SDC HACKATHON 2026 · DOMAIN 1 · AIVERSECITY FUTURE-READY WORKFORCE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FutureReady MY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9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your CV into explainable career matches, an honest view of how AI is changing those jobs, and a study pathway of real courses.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4160520"/>
            <a:ext cx="420624" cy="420624"/>
          </a:xfrm>
          <a:prstGeom prst="ellipse">
            <a:avLst/>
          </a:prstGeom>
          <a:solidFill>
            <a:srgbClr val="E03C3C"/>
          </a:solidFill>
          <a:ln w="12700">
            <a:solidFill>
              <a:srgbClr val="E03C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160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98448" y="4160520"/>
            <a:ext cx="420624" cy="420624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98448" y="4160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65376" y="4160520"/>
            <a:ext cx="420624" cy="420624"/>
          </a:xfrm>
          <a:prstGeom prst="ellipse">
            <a:avLst/>
          </a:prstGeom>
          <a:solidFill>
            <a:srgbClr val="3E7D3E"/>
          </a:solidFill>
          <a:ln w="12700">
            <a:solidFill>
              <a:srgbClr val="3E7D3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65376" y="4160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32304" y="4160520"/>
            <a:ext cx="420624" cy="420624"/>
          </a:xfrm>
          <a:prstGeom prst="ellipse">
            <a:avLst/>
          </a:prstGeom>
          <a:solidFill>
            <a:srgbClr val="0F5596"/>
          </a:solidFill>
          <a:ln w="12700">
            <a:solidFill>
              <a:srgbClr val="0F559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32304" y="4160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999232" y="4160520"/>
            <a:ext cx="420624" cy="420624"/>
          </a:xfrm>
          <a:prstGeom prst="ellipse">
            <a:avLst/>
          </a:prstGeom>
          <a:solidFill>
            <a:srgbClr val="D23F87"/>
          </a:solidFill>
          <a:ln w="12700">
            <a:solidFill>
              <a:srgbClr val="D23F8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99232" y="4160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566160" y="4160520"/>
            <a:ext cx="420624" cy="420624"/>
          </a:xfrm>
          <a:prstGeom prst="ellipse">
            <a:avLst/>
          </a:prstGeom>
          <a:solidFill>
            <a:srgbClr val="EA7A33"/>
          </a:solidFill>
          <a:ln w="12700">
            <a:solidFill>
              <a:srgbClr val="EA7A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66160" y="4160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251960" y="4160520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stages, one synthetic user, one live session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07492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9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XH-Cat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9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Yip Gui Rong (leader) · Multimedia University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9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4.4 relevant skills · SDG 8.6 youth in work, education or training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5074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https://futures.grong.my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choose courses and jobs blind to how AI changes them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4747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3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10.2%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unemployment (ages 15-24)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83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OpenDOSM lfs_month_youth, June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97680" y="1417320"/>
            <a:ext cx="34747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645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55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56% / 26%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606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at work vs have formal AI training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383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Hays Asia Salary Guide 2025, quoted in the SDC Domain 1 brief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46720" y="1417320"/>
            <a:ext cx="34747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45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3E7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600,000+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606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need reskilling within 3 to 5 years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383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MOSTI, quoted in the SDC Domain 1 brief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5262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facts exist, but they are scattered. </a:t>
            </a:r>
            <a:pPr indent="0" marL="0">
              <a:buNone/>
            </a:pPr>
            <a:r>
              <a:rPr lang="en-US" sz="16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occupation list (eMASCO), job-ad data (DOSM), skill levels (O*NET), AI-exposure research (ILO, Anthropic Economic Index) and accredited courses all sit on different sites. A student cannot join them into one answer. Generic advice or a chatbot that guesses is what they get today.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7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confirmed profile, four tools, every number sourced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017520" cy="4663440"/>
          </a:xfrm>
          <a:prstGeom prst="roundRect">
            <a:avLst>
              <a:gd name="adj" fmla="val 2424"/>
            </a:avLst>
          </a:prstGeom>
          <a:solidFill>
            <a:srgbClr val="1A1714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confirmed profile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2560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9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PDF or Word CV, or a short 5-part form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9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reader + DeepSeek suggest; each AI item must quote the CV word for word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9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confirm every item before it counts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9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Bahasa Melayu, 中文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3474720"/>
            <a:ext cx="457200" cy="457200"/>
          </a:xfrm>
          <a:prstGeom prst="rightArrow">
            <a:avLst/>
          </a:prstGeom>
          <a:solidFill>
            <a:srgbClr val="D6246E"/>
          </a:solidFill>
          <a:ln w="12700">
            <a:solidFill>
              <a:srgbClr val="D624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51960" y="14173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0" y="1673352"/>
            <a:ext cx="292608" cy="292608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6184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Skills Radar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1488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touches the tasks of your own jobs, research momentum, and AI news for your field every 3 hours.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55280" y="14173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83880" y="1673352"/>
            <a:ext cx="292608" cy="292608"/>
          </a:xfrm>
          <a:prstGeom prst="ellipse">
            <a:avLst/>
          </a:prstGeom>
          <a:solidFill>
            <a:srgbClr val="3E7D3E"/>
          </a:solidFill>
          <a:ln w="12700">
            <a:solidFill>
              <a:srgbClr val="3E7D3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95360" y="16184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matching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21488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1,812 Malaysian eMASCO roles. Skill Match, AI touch and Overall match, explained line by line.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51960" y="33832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3639312"/>
            <a:ext cx="292608" cy="292608"/>
          </a:xfrm>
          <a:prstGeom prst="ellipse">
            <a:avLst/>
          </a:prstGeom>
          <a:solidFill>
            <a:srgbClr val="0F5596"/>
          </a:solidFill>
          <a:ln w="12700">
            <a:solidFill>
              <a:srgbClr val="0F559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35844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pathway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1148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to build, biggest gap first, each with an exact, checked course page; accredited programmes.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55280" y="33832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3639312"/>
            <a:ext cx="292608" cy="292608"/>
          </a:xfrm>
          <a:prstGeom prst="ellipse">
            <a:avLst/>
          </a:prstGeom>
          <a:solidFill>
            <a:srgbClr val="EA7A33"/>
          </a:solidFill>
          <a:ln w="12700">
            <a:solidFill>
              <a:srgbClr val="EA7A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95360" y="35844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 view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183880" y="41148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centres and HR teams see a group's skill gaps and plan target roles.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251960" y="54864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D6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and finds. Arithmetic on official data decides. The user confirms.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7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final demo journey: six stages, all live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566928" cy="566928"/>
          </a:xfrm>
          <a:prstGeom prst="ellipse">
            <a:avLst/>
          </a:prstGeom>
          <a:solidFill>
            <a:srgbClr val="E03C3C"/>
          </a:solidFill>
          <a:ln w="12700">
            <a:solidFill>
              <a:srgbClr val="E03C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7276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us about yourself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CV or fill the form. Every suggestion is checked and confirmed; the confirmed profile drives all results. Nothing is pre-filled.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600200"/>
            <a:ext cx="566928" cy="566928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157276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Skills Radar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33172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AI use on your jobs' tasks, ILO exposure, research momentum by AI topic, AI news. Source and date on each; datasets are rebuilt by pipeline scripts and news refreshes every 3 hours.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600200"/>
            <a:ext cx="566928" cy="566928"/>
          </a:xfrm>
          <a:prstGeom prst="ellipse">
            <a:avLst/>
          </a:prstGeom>
          <a:solidFill>
            <a:srgbClr val="3E7D3E"/>
          </a:solidFill>
          <a:ln w="12700">
            <a:solidFill>
              <a:srgbClr val="3E7D3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9006840" y="157276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matched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33172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in groups, sorted by Overall match. "You meet X of Y needed levels" for every role, plus the exact skills gap and what would raise it.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069080"/>
            <a:ext cx="566928" cy="566928"/>
          </a:xfrm>
          <a:prstGeom prst="ellipse">
            <a:avLst/>
          </a:prstGeom>
          <a:solidFill>
            <a:srgbClr val="0F5596"/>
          </a:solidFill>
          <a:ln w="12700">
            <a:solidFill>
              <a:srgbClr val="0F559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04164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 a pathway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80060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roles, get skills to build in order, biggest gap first (+8 points), each with an exact HRD Corp e-LATiH or Coursera page, checked 31 Oct.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97680" y="384048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4069080"/>
            <a:ext cx="566928" cy="566928"/>
          </a:xfrm>
          <a:prstGeom prst="ellipse">
            <a:avLst/>
          </a:prstGeom>
          <a:solidFill>
            <a:srgbClr val="D23F87"/>
          </a:solidFill>
          <a:ln w="12700">
            <a:solidFill>
              <a:srgbClr val="D23F8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404164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SDG contribution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80060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role is tagged to an SDG goal that links to the UN page, labelled "team draft, not yet reviewed" or approved. Filter roles by SDG.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46720" y="384048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4069080"/>
            <a:ext cx="566928" cy="566928"/>
          </a:xfrm>
          <a:prstGeom prst="ellipse">
            <a:avLst/>
          </a:prstGeom>
          <a:solidFill>
            <a:srgbClr val="EA7A33"/>
          </a:solidFill>
          <a:ln w="12700">
            <a:solidFill>
              <a:srgbClr val="EA7A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9006840" y="404164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futures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80060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AI (observed today) vs Rapid AI (ILO full exposure). Roles move between groups, labelled ESTIMATE. The Skill Match never changes.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7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futures.grong.my</a:t>
            </a:r>
            <a:endParaRPr lang="en-US" sz="5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9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synthetic user: Aina Binti Ahmad, Diploma in IT, IT Support Executive (made-up CV)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640080" cy="640080"/>
          </a:xfrm>
          <a:prstGeom prst="ellipse">
            <a:avLst/>
          </a:prstGeom>
          <a:solidFill>
            <a:srgbClr val="E03C3C"/>
          </a:solidFill>
          <a:ln w="12700">
            <a:solidFill>
              <a:srgbClr val="E03C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CV, confirm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3566160"/>
            <a:ext cx="640080" cy="64008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43434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Radar: AI on your tasks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3566160"/>
            <a:ext cx="640080" cy="640080"/>
          </a:xfrm>
          <a:prstGeom prst="ellipse">
            <a:avLst/>
          </a:prstGeom>
          <a:solidFill>
            <a:srgbClr val="3E7D3E"/>
          </a:solidFill>
          <a:ln w="12700">
            <a:solidFill>
              <a:srgbClr val="3E7D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43434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matching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3566160"/>
            <a:ext cx="640080" cy="640080"/>
          </a:xfrm>
          <a:prstGeom prst="ellipse">
            <a:avLst/>
          </a:prstGeom>
          <a:solidFill>
            <a:srgbClr val="0F5596"/>
          </a:solidFill>
          <a:ln w="12700">
            <a:solidFill>
              <a:srgbClr val="0F559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43434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study pathway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3566160"/>
            <a:ext cx="640080" cy="640080"/>
          </a:xfrm>
          <a:prstGeom prst="ellipse">
            <a:avLst/>
          </a:prstGeom>
          <a:solidFill>
            <a:srgbClr val="D23F87"/>
          </a:solidFill>
          <a:ln w="12700">
            <a:solidFill>
              <a:srgbClr val="D23F8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43434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tags and filter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875520" y="3566160"/>
            <a:ext cx="640080" cy="640080"/>
          </a:xfrm>
          <a:prstGeom prst="ellipse">
            <a:avLst/>
          </a:prstGeom>
          <a:solidFill>
            <a:srgbClr val="EA7A33"/>
          </a:solidFill>
          <a:ln w="12700">
            <a:solidFill>
              <a:srgbClr val="EA7A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43434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→ Rapid AI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5577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B9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network fails: the same app runs on this laptop (npm start), and backup screenshots of every stage follow at the end of this deck.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Must-haves: what you see live, and what is not there yet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5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Shown live in FutureReady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D3E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0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 profile intake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 read from the uploaded synthetic CV or form, confirmed by the user, and sent to matching (never stored). Change a skill and the matches change.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A3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AI-trend signal 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Economic Index (release 2026-06-26), ILO WP140 (2025), OpenAlex (fetched 2026-10-30), DOSM job ads, AI news every 3 hours. Name and date on screen; when the job-ad trend changes, roles move between groups. Not yet: a declining-skills list on the Radar page.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E7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Future-role matching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Match = levels met ÷ levels needed on O*NET skills and knowledge (importance ≥ 3), shown as "you meet X of Y needed levels". Skills gap listed per role; Overall match formula shown.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55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Reskilling pathway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 steps (biggest gap first, in points of Skill Match), exact e-LATiH (HRD Corp), Coursera and other course pages, each checked on a date. Not yet: course time estimates, because no course site gives a sourced duration.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23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SDG mapping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role carries an SDG tag with its reason link and review label; SDG filter on matching. Not yet: the separate "path contribution" panel (removed 1 Nov while it was reworked).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A7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Handling uncertainty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vs Rapid AI scenarios move roles between groups (hundreds of roles move for the demo user); ESTIMATE and PROVISIONAL labels; "Not enough evidence yet" group.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7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stop it inventing a job, a course or a number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54480"/>
            <a:ext cx="411480" cy="411480"/>
          </a:xfrm>
          <a:prstGeom prst="ellipse">
            <a:avLst/>
          </a:prstGeom>
          <a:solidFill>
            <a:srgbClr val="0F5596"/>
          </a:solidFill>
          <a:ln w="12700">
            <a:solidFill>
              <a:srgbClr val="0F559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087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only from official lists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2024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1,812 roles from eMASCO (MOHR). eMASCO → ISCO-08 → SOC → O*NET through official code tables. A broken chain shows "not available", never a guess.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3716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554480"/>
            <a:ext cx="411480" cy="411480"/>
          </a:xfrm>
          <a:prstGeom prst="ellipse">
            <a:avLst/>
          </a:prstGeom>
          <a:solidFill>
            <a:srgbClr val="3E7D3E"/>
          </a:solidFill>
          <a:ln w="12700">
            <a:solidFill>
              <a:srgbClr val="3E7D3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15087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language model in matching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192024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Match is arithmetic on O*NET levels: basic 2, good 4, expert 6. Overall = Skill Match × (1 − AI touch) + AI know-how × AI touch.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154680"/>
            <a:ext cx="411480" cy="411480"/>
          </a:xfrm>
          <a:prstGeom prst="ellipse">
            <a:avLst/>
          </a:prstGeom>
          <a:solidFill>
            <a:srgbClr val="6B3FD4"/>
          </a:solidFill>
          <a:ln w="12700">
            <a:solidFill>
              <a:srgbClr val="6B3F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1089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must show its evidence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52044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CV items are kept only if they quote the CV word for word, tagged "Found by AI", and confirmed by the user. 16 synthetic CVs: precision 1.0, skill recall 0.89.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29718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3154680"/>
            <a:ext cx="411480" cy="41148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31089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courses, checked dates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352044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course is a team-picked real page with the date it was checked. The server refuses to start with a bad pick.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754880"/>
            <a:ext cx="411480" cy="411480"/>
          </a:xfrm>
          <a:prstGeom prst="ellipse">
            <a:avLst/>
          </a:prstGeom>
          <a:solidFill>
            <a:srgbClr val="EA7A33"/>
          </a:solidFill>
          <a:ln w="12700">
            <a:solidFill>
              <a:srgbClr val="EA7A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754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4709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Uncertainty is labelled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512064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CALCULATED, ESTIMATE and PROVISIONAL labels; two AI scenarios; "Not assessed yet" skills mark a match provisional.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45720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4754880"/>
            <a:ext cx="411480" cy="411480"/>
          </a:xfrm>
          <a:prstGeom prst="ellipse">
            <a:avLst/>
          </a:prstGeom>
          <a:solidFill>
            <a:srgbClr val="D23F87"/>
          </a:solidFill>
          <a:ln w="12700">
            <a:solidFill>
              <a:srgbClr val="D23F8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09360" y="4754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4709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kept current, with dates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512064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dataset shows its snapshot date and is rebuilt by pipeline scripts with SHA-256 manifests. AI news refreshes every 3 hours under hard caps.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7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Node app, official data, AI only where it helps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72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5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38528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JavaScript ES modules, pdf.js, three.js intro. EN / BM / 中文. Guest data stays in the browser.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29000" y="146304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11880" y="1572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7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Cloudflare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1938528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DNS, HTTPS and a Tunnel to the team's computer. Free. No open router ports.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572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24 + Express 5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1938528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API: /api/cv, /api/matching, /api/pathway, /api/radar, /api/news, /api/org, /api/auth.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372600" y="1463040"/>
            <a:ext cx="22402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55480" y="15727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E7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555480" y="1938528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saved profiles, organisations (node:sqlite; same interface as Cloudflare D1).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063240" y="2148840"/>
            <a:ext cx="320040" cy="365760"/>
          </a:xfrm>
          <a:prstGeom prst="rightArrow">
            <a:avLst/>
          </a:prstGeom>
          <a:solidFill>
            <a:srgbClr val="D6246E"/>
          </a:solidFill>
          <a:ln w="12700">
            <a:solidFill>
              <a:srgbClr val="D624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2148840"/>
            <a:ext cx="320040" cy="365760"/>
          </a:xfrm>
          <a:prstGeom prst="rightArrow">
            <a:avLst/>
          </a:prstGeom>
          <a:solidFill>
            <a:srgbClr val="D6246E"/>
          </a:solidFill>
          <a:ln w="12700">
            <a:solidFill>
              <a:srgbClr val="D624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06840" y="2148840"/>
            <a:ext cx="320040" cy="365760"/>
          </a:xfrm>
          <a:prstGeom prst="rightArrow">
            <a:avLst/>
          </a:prstGeom>
          <a:solidFill>
            <a:srgbClr val="D6246E"/>
          </a:solidFill>
          <a:ln w="12700">
            <a:solidFill>
              <a:srgbClr val="D624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611880"/>
            <a:ext cx="53492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72160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3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logic + bundled official data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087368"/>
            <a:ext cx="4983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Matching, Radar, pathway and news rules run in both server and browser.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O*NET 31.0 · eMASCO (MASCO 2020) · ISCO-08 / SOC crosswalks · ISCED-F 2013 + CIP · ILO WP140 · Anthropic Economic Index · OpenAlex · DOSM job ads · UN SDG targets. SHA-256 manifests, rebuilt by Python pipeline scripts.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3611880"/>
            <a:ext cx="53035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37216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6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DeepSeek (paid, capped)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087368"/>
            <a:ext cx="4937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deepseek-flash reads each CV next to the rules reader (JSON mode, word-for-word check).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Search finds AI news for 10 study fields every 3 hours; deepseek-flash keeps or drops each result.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Caps: 10 per run, 80 per 24 hours, counted before each call. Career matching uses no language model.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7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feasibility, in numbers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75488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KPI: PATHWAY STEPS WITH AN EXACT, CHECKED COURSE PAGE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2148840"/>
          <a:ext cx="43891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22960" y="51206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of 38 skills (82%, 24 Oct) → all 68 O*NET skill and knowledge items (100%, 125 course picks checked 31 Oct). Accredited programmes for 99 of 124 fields of study.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577840" y="1371600"/>
            <a:ext cx="603504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60720" y="1554480"/>
            <a:ext cx="274320" cy="27432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72200" y="148132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cost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172200" y="182880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US$4-6 a month for AI news, plus about US$0.002-0.004 per CV read. Hosting on a free Cloudflare Tunnel.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577840" y="2578608"/>
            <a:ext cx="603504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60720" y="2761488"/>
            <a:ext cx="274320" cy="274320"/>
          </a:xfrm>
          <a:prstGeom prst="ellipse">
            <a:avLst/>
          </a:prstGeom>
          <a:solidFill>
            <a:srgbClr val="0F5596"/>
          </a:solidFill>
          <a:ln w="12700">
            <a:solidFill>
              <a:srgbClr val="0F559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72200" y="268833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(PDPA)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3035808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profile sent for matching is used for one answer and never stored or logged. Guests stay in the browser. A PDPA cross-border review comes before real CVs.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577840" y="3785616"/>
            <a:ext cx="603504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60720" y="3968496"/>
            <a:ext cx="274320" cy="274320"/>
          </a:xfrm>
          <a:prstGeom prst="ellipse">
            <a:avLst/>
          </a:prstGeom>
          <a:solidFill>
            <a:srgbClr val="3E7D3E"/>
          </a:solidFill>
          <a:ln w="12700">
            <a:solidFill>
              <a:srgbClr val="3E7D3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72200" y="389534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4242816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students in 3 languages. Organisation view for career centres, TVET colleges and HR teams as the paid model.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577840" y="4992624"/>
            <a:ext cx="603504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760720" y="5175504"/>
            <a:ext cx="274320" cy="274320"/>
          </a:xfrm>
          <a:prstGeom prst="ellipse">
            <a:avLst/>
          </a:prstGeom>
          <a:solidFill>
            <a:srgbClr val="D23F87"/>
          </a:solidFill>
          <a:ln w="12700">
            <a:solidFill>
              <a:srgbClr val="D23F8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172200" y="510235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about results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172200" y="5449824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pilot (20+ students, target 70% finish in under 10 minutes) has not run yet, so we claim no result.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7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 since the preliminary round, and why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023360"/>
                <a:gridCol w="3749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Preliminary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1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E5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similarity (bge-m3)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Arithmetic on official O*NET levels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match can be explained on screen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E5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app skills, 82% with a course 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 O*NET items, 100% with a checked 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Pathway and Skill Match use the same items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E5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Rules-only CV reading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+ DeepSeek with a word-for-word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alone missed items; 0 wrong items on 16 CVs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E5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news tagging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Search every 3 hours + relevance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first run kept preprints and homework pages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E5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fit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match with AI know-how (UNESCO 2024 framework)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AI touches a job, AI skills matter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E5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Organisation view for HR and career centres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paid model that keeps the student app 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E5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Replit + React/Vite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Cloudflare Tunnel + SQLite, plain ES modules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7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paid cloud database, no build 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97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change log: submission/SDC2026_XH-Cat_PRD.docx (section 4).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7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which skills carry over, and what to learn next.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34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· sourced · free for students · live today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794760"/>
            <a:ext cx="292608" cy="292608"/>
          </a:xfrm>
          <a:prstGeom prst="ellipse">
            <a:avLst/>
          </a:prstGeom>
          <a:solidFill>
            <a:srgbClr val="E03C3C"/>
          </a:solidFill>
          <a:ln w="12700">
            <a:solidFill>
              <a:srgbClr val="E03C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3794760"/>
            <a:ext cx="292608" cy="292608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3794760"/>
            <a:ext cx="292608" cy="292608"/>
          </a:xfrm>
          <a:prstGeom prst="ellipse">
            <a:avLst/>
          </a:prstGeom>
          <a:solidFill>
            <a:srgbClr val="3E7D3E"/>
          </a:solidFill>
          <a:ln w="12700">
            <a:solidFill>
              <a:srgbClr val="3E7D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0" y="3794760"/>
            <a:ext cx="292608" cy="292608"/>
          </a:xfrm>
          <a:prstGeom prst="ellipse">
            <a:avLst/>
          </a:prstGeom>
          <a:solidFill>
            <a:srgbClr val="0F5596"/>
          </a:solidFill>
          <a:ln w="12700">
            <a:solidFill>
              <a:srgbClr val="0F55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3794760"/>
            <a:ext cx="292608" cy="292608"/>
          </a:xfrm>
          <a:prstGeom prst="ellipse">
            <a:avLst/>
          </a:prstGeom>
          <a:solidFill>
            <a:srgbClr val="D23F87"/>
          </a:solidFill>
          <a:ln w="12700">
            <a:solidFill>
              <a:srgbClr val="D23F8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3794760"/>
            <a:ext cx="292608" cy="292608"/>
          </a:xfrm>
          <a:prstGeom prst="ellipse">
            <a:avLst/>
          </a:prstGeom>
          <a:solidFill>
            <a:srgbClr val="EA7A33"/>
          </a:solidFill>
          <a:ln w="12700">
            <a:solidFill>
              <a:srgbClr val="EA7A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4348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https://futures.grong.my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9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https://github.com/guirong0109/XH-Cat_MyFuture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9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XH-Cat · Questions welcome, from both of us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 · Tell us about yourself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11480" cy="411480"/>
          </a:xfrm>
          <a:prstGeom prst="ellipse">
            <a:avLst/>
          </a:prstGeom>
          <a:solidFill>
            <a:srgbClr val="E03C3C"/>
          </a:solidFill>
          <a:ln w="12700">
            <a:solidFill>
              <a:srgbClr val="E03C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captured from the app on 1 Nov 2026 with the synthetic CV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21208" y="2154992"/>
            <a:ext cx="3575304" cy="300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C:\Users\guiro\AppData\Local\Temp\claude\C--Users-guiro-XH-Cat-Final\6555c520-0e57-4206-a790-54f5413070bb\scratchpad\deck\img\c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82424"/>
            <a:ext cx="3520440" cy="29503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24528" y="1825385"/>
            <a:ext cx="3575304" cy="3664429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C:\Users\guiro\AppData\Local\Temp\claude\C--Users-guiro-XH-Cat-Final\6555c520-0e57-4206-a790-54f5413070bb\scratchpad\deck\img\confi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852817"/>
            <a:ext cx="3520440" cy="360956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09244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321040" y="201168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Aina's CV (DOCX) is read; studies, job and skills are suggested.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"Unverified until you confirm": nothing counts until Aina checks it.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map to O*NET codes; "Customer service" is kept but not used for matching.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confirmed profile is what matching uses.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7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 · Future Skills Radar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11480" cy="41148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captured from the app on 1 Nov 2026 with the synthetic CV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21208" y="2321226"/>
            <a:ext cx="3575304" cy="26727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C:\Users\guiro\AppData\Local\Temp\claude\C--Users-guiro-XH-Cat-Final\6555c520-0e57-4206-a790-54f5413070bb\scratchpad\deck\img\radar_yo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48658"/>
            <a:ext cx="3520440" cy="26178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24528" y="2321226"/>
            <a:ext cx="3575304" cy="26727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C:\Users\guiro\AppData\Local\Temp\claude\C--Users-guiro-XH-Cat-Final\6555c520-0e57-4206-a790-54f5413070bb\scratchpad\deck\img\radar_e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348658"/>
            <a:ext cx="3520440" cy="26178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09244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321040" y="201168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you: how AI is used on the tasks of Aina's jobs (Anthropic Economic Index, release 2026-06-26).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 WP140 exposure gradient for the same job.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all trends: research momentum by AI topic (OpenAlex), with years and source.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news for the field refreshes every 3 hours on the live site.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7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 · Get matched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11480" cy="411480"/>
          </a:xfrm>
          <a:prstGeom prst="ellipse">
            <a:avLst/>
          </a:prstGeom>
          <a:solidFill>
            <a:srgbClr val="3E7D3E"/>
          </a:solidFill>
          <a:ln w="12700">
            <a:solidFill>
              <a:srgbClr val="3E7D3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captured from the app on 1 Nov 2026 with the synthetic CV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4870" y="1801368"/>
            <a:ext cx="6871300" cy="3712464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C:\Users\guiro\AppData\Local\Temp\claude\C--Users-guiro-XH-Cat-Final\6555c520-0e57-4206-a790-54f5413070bb\scratchpad\deck\img\m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02" y="1828800"/>
            <a:ext cx="6816436" cy="3657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9244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21040" y="201168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meet 11.5 of 69.7 needed levels for Web Developers, so fit is 17%."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touches this job: 69% (ESTIMATE, Anthropic Economic Index).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17% × 0.31 + 75% AI know-how × 0.69 = 57%.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because 4 skills are "Not assessed yet"; setting levels can change 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7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4 · Follow a pathway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11480" cy="411480"/>
          </a:xfrm>
          <a:prstGeom prst="ellipse">
            <a:avLst/>
          </a:prstGeom>
          <a:solidFill>
            <a:srgbClr val="0F5596"/>
          </a:solidFill>
          <a:ln w="12700">
            <a:solidFill>
              <a:srgbClr val="0F559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captured from the app on 1 Nov 2026 with the synthetic CV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21208" y="1898445"/>
            <a:ext cx="7278624" cy="3518311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C:\Users\guiro\AppData\Local\Temp\claude\C--Users-guiro-XH-Cat-Final\6555c520-0e57-4206-a790-54f5413070bb\scratchpad\deck\img\p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5877"/>
            <a:ext cx="7223760" cy="346344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9244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21040" y="201168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to build, biggest gap first, in points of Skill Match (+8, +6 ...).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links an exact course page: e-LATiH (HRD Corp), Coursera, checked 2026-10-31.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/ Done tracking, self-reported.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it: accredited Malaysian programmes (MQA) for the fields that lead to the role.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7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Stages 5 and 6 · SDG tags and Compare futures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11480" cy="411480"/>
          </a:xfrm>
          <a:prstGeom prst="ellipse">
            <a:avLst/>
          </a:prstGeom>
          <a:solidFill>
            <a:srgbClr val="EA7A33"/>
          </a:solidFill>
          <a:ln w="12700">
            <a:solidFill>
              <a:srgbClr val="EA7A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5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captured from the app on 1 Nov 2026 with the synthetic CV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21208" y="1879982"/>
            <a:ext cx="7278624" cy="35552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C:\Users\guiro\AppData\Local\Temp\claude\C--Users-guiro-XH-Cat-Final\6555c520-0e57-4206-a790-54f5413070bb\scratchpad\deck\img\rap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07414"/>
            <a:ext cx="7223760" cy="35003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9244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DDD5C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21040" y="201168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Moderate AI → Rapid AI moved 323 roles out of group 2 and 65 roles into it.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"Skill Match numbers did not change." The scenario is labelled ESTIMATE.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role card carries an SDG tag (e.g. SDG 9) linking to the UN goal page, labelled "team draft, not yet reviewed".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roles linked to" filters matches by SDG.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7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utureReady">
  <a:themeElements>
    <a:clrScheme name="FutureReady">
      <a:dk1>
        <a:srgbClr val="1A1714"/>
      </a:dk1>
      <a:lt1>
        <a:srgbClr val="FFFFFF"/>
      </a:lt1>
      <a:dk2>
        <a:srgbClr val="5E574D"/>
      </a:dk2>
      <a:lt2>
        <a:srgbClr val="F5F0E7"/>
      </a:lt2>
      <a:accent1>
        <a:srgbClr val="D6246E"/>
      </a:accent1>
      <a:accent2>
        <a:srgbClr val="6B3FD4"/>
      </a:accent2>
      <a:accent3>
        <a:srgbClr val="2E7D4F"/>
      </a:accent3>
      <a:accent4>
        <a:srgbClr val="0F5596"/>
      </a:accent4>
      <a:accent5>
        <a:srgbClr val="E8A317"/>
      </a:accent5>
      <a:accent6>
        <a:srgbClr val="E06A2C"/>
      </a:accent6>
      <a:hlink>
        <a:srgbClr val="0F5596"/>
      </a:hlink>
      <a:folHlink>
        <a:srgbClr val="6B3FD4"/>
      </a:folHlink>
    </a:clrScheme>
    <a:fontScheme name="FutureRead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Team XH-Cat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FutureReady MY — SDC Hackathon 2026 final pitch</dc:title>
  <dc:subject>PptxGenJS Presentation</dc:subject>
  <dc:creator>Team XH-Cat</dc:creator>
  <cp:lastModifiedBy>Team XH-Cat</cp:lastModifiedBy>
  <cp:revision>1</cp:revision>
  <dcterms:created xsi:type="dcterms:W3CDTF">2026-10-31T19:58:52Z</dcterms:created>
  <dcterms:modified xsi:type="dcterms:W3CDTF">2026-10-31T19:58:52Z</dcterms:modified>
</cp:coreProperties>
</file>